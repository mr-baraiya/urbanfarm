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hdr"/>
          </p:nvPr>
        </p:nvSpPr>
        <p:spPr>
          <a:xfrm>
            <a:off x="0" y="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3884760" y="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FD903D0-B81D-4357-BA39-D3F5708A2186}" type="datetime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10/10/2026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3"/>
          <p:cNvSpPr>
            <a:spLocks noGrp="1" noRot="1" noChangeAspect="1"/>
          </p:cNvSpPr>
          <p:nvPr>
            <p:ph type="sldImg"/>
          </p:nvPr>
        </p:nvSpPr>
        <p:spPr>
          <a:xfrm>
            <a:off x="-228600" y="1523880"/>
            <a:ext cx="7315200" cy="4114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Click to move the slide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lvl="1" indent="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914400" lvl="2" indent="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371600" lvl="3" indent="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28800" lvl="4" indent="0">
              <a:lnSpc>
                <a:spcPct val="100000"/>
              </a:lnSpc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level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>
              <a:buNone/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F0B3949-CF0B-456B-A70D-84D710BF53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388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Title slide. Replace every bracketed field. Do not move or resize the logos.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4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E56266-8C50-427C-B178-58CB856008A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1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5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1E90AA3-6743-4430-9AE7-91C5EE45C25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6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D4DBC0B-518E-4455-8FB7-66E3A0B09D2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7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42760D0-5922-4C8F-A528-6737CBBCDCB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05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8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3D9B16-F040-4AE9-984C-0CB29BFB841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9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C8CE346-006C-4783-88F1-8D703DC695C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11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PlaceHolder 3"/>
          <p:cNvSpPr>
            <a:spLocks noGrp="1"/>
          </p:cNvSpPr>
          <p:nvPr>
            <p:ph type="sldNum" idx="10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4C5409E-7125-4515-B75C-854104C1017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14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 type="sldNum" idx="11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4B4B4A0-0E69-4888-83F3-E21E7E137999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8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3880"/>
            <a:ext cx="7315200" cy="4114800"/>
          </a:xfrm>
          <a:prstGeom prst="rect">
            <a:avLst/>
          </a:prstGeom>
          <a:ln w="0">
            <a:noFill/>
          </a:ln>
        </p:spPr>
      </p:sp>
      <p:sp>
        <p:nvSpPr>
          <p:cNvPr id="217" name="PlaceHolder 2"/>
          <p:cNvSpPr>
            <a:spLocks noGrp="1"/>
          </p:cNvSpPr>
          <p:nvPr>
            <p:ph type="body"/>
          </p:nvPr>
        </p:nvSpPr>
        <p:spPr>
          <a:xfrm>
            <a:off x="685800" y="5867280"/>
            <a:ext cx="5486400" cy="4800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 type="sldNum" idx="12"/>
          </p:nvPr>
        </p:nvSpPr>
        <p:spPr>
          <a:xfrm>
            <a:off x="3884760" y="11580840"/>
            <a:ext cx="2971800" cy="6112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2937CA8-9237-4E09-8CCC-F26DA4D5323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ster1-Code-Carnival-3.0-Idea-Submission-Templa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566360" cy="46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2179080"/>
            <a:ext cx="10566360" cy="3866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ster1-Layout1-cust-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Master1-Layout2-cust-Title-and-bod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566360" cy="4672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12880" y="2179080"/>
            <a:ext cx="10566360" cy="3866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urbanfarm.baraiyavishalbhai32.workers.dev/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github.com/mr-baraiya/UrbanFar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152280" cy="685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812880" y="507960"/>
            <a:ext cx="10566360" cy="863640"/>
          </a:xfrm>
          <a:custGeom>
            <a:avLst/>
            <a:gdLst>
              <a:gd name="textAreaLeft" fmla="*/ 29520 w 10566360"/>
              <a:gd name="textAreaRight" fmla="*/ 10536840 w 10566360"/>
              <a:gd name="textAreaTop" fmla="*/ 29520 h 863640"/>
              <a:gd name="textAreaBottom" fmla="*/ 834120 h 863640"/>
            </a:gdLst>
            <a:ahLst/>
            <a:cxnLst/>
            <a:rect l="textAreaLeft" t="textAreaTop" r="textAreaRight" b="textAreaBottom"/>
            <a:pathLst>
              <a:path w="264168" h="21600">
                <a:moveTo>
                  <a:pt x="2541" y="0"/>
                </a:moveTo>
                <a:arcTo wR="2541" hR="2541" stAng="16200000" swAng="-5400000"/>
                <a:lnTo>
                  <a:pt x="0" y="19059"/>
                </a:lnTo>
                <a:arcTo wR="2541" hR="2541" stAng="10800000" swAng="-5400000"/>
                <a:lnTo>
                  <a:pt x="261627" y="21600"/>
                </a:lnTo>
                <a:arcTo wR="2541" hR="2541" stAng="5400000" swAng="-5400000"/>
                <a:lnTo>
                  <a:pt x="264168" y="2541"/>
                </a:lnTo>
                <a:arcTo wR="2541" hR="2541" stAng="0" swAng="-5400000"/>
                <a:close/>
              </a:path>
            </a:pathLst>
          </a:custGeom>
          <a:solidFill>
            <a:srgbClr val="F6F0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Image 0" descr="Atmiya University logo"/>
          <p:cNvPicPr/>
          <p:nvPr/>
        </p:nvPicPr>
        <p:blipFill>
          <a:blip r:embed="rId3"/>
          <a:srcRect l="-85" r="-85"/>
          <a:stretch/>
        </p:blipFill>
        <p:spPr>
          <a:xfrm>
            <a:off x="1066680" y="685800"/>
            <a:ext cx="1790640" cy="5079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3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8731440" y="635040"/>
            <a:ext cx="609480" cy="6094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4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9645840" y="774720"/>
            <a:ext cx="1479600" cy="33012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5" name="Text 2"/>
          <p:cNvSpPr/>
          <p:nvPr/>
        </p:nvSpPr>
        <p:spPr>
          <a:xfrm>
            <a:off x="812880" y="223164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300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ATMIYA DEVELOPER STUDENTS CLUB PRESENTS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12880" y="2673720"/>
            <a:ext cx="10883520" cy="9856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7560"/>
              </a:lnSpc>
              <a:buNone/>
            </a:pPr>
            <a:r>
              <a:rPr lang="en-US" sz="7200" b="1" u="none" strike="noStrike" spc="99">
                <a:solidFill>
                  <a:srgbClr val="F6F0E6"/>
                </a:solidFill>
                <a:effectLst/>
                <a:uFillTx/>
                <a:latin typeface="Oswald"/>
                <a:ea typeface="Oswald"/>
              </a:rPr>
              <a:t>CODE CARNIVAL </a:t>
            </a:r>
            <a:r>
              <a:rPr lang="en-US" sz="7200" b="1" u="none" strike="noStrike" spc="99">
                <a:solidFill>
                  <a:srgbClr val="EF4350"/>
                </a:solidFill>
                <a:effectLst/>
                <a:uFillTx/>
                <a:latin typeface="Oswald"/>
                <a:ea typeface="Oswald"/>
              </a:rPr>
              <a:t>3.0</a:t>
            </a:r>
            <a:endParaRPr lang="en-U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4"/>
          <p:cNvSpPr/>
          <p:nvPr/>
        </p:nvSpPr>
        <p:spPr>
          <a:xfrm>
            <a:off x="812880" y="3862440"/>
            <a:ext cx="1088352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Idea Submission Template · The Heist Plan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5"/>
          <p:cNvSpPr/>
          <p:nvPr/>
        </p:nvSpPr>
        <p:spPr>
          <a:xfrm>
            <a:off x="816120" y="4378680"/>
            <a:ext cx="3414240" cy="853920"/>
          </a:xfrm>
          <a:custGeom>
            <a:avLst/>
            <a:gdLst>
              <a:gd name="textAreaLeft" fmla="*/ 13680 w 3414240"/>
              <a:gd name="textAreaRight" fmla="*/ 3400560 w 3414240"/>
              <a:gd name="textAreaTop" fmla="*/ 13680 h 853920"/>
              <a:gd name="textAreaBottom" fmla="*/ 840240 h 853920"/>
            </a:gdLst>
            <a:ahLst/>
            <a:cxnLst/>
            <a:rect l="textAreaLeft" t="textAreaTop" r="textAreaRight" b="textAreaBottom"/>
            <a:pathLst>
              <a:path w="86336" h="21600">
                <a:moveTo>
                  <a:pt x="1205" y="0"/>
                </a:moveTo>
                <a:arcTo wR="1205" hR="1205" stAng="16200000" swAng="-5400000"/>
                <a:lnTo>
                  <a:pt x="0" y="20395"/>
                </a:lnTo>
                <a:arcTo wR="1205" hR="1205" stAng="10800000" swAng="-5400000"/>
                <a:lnTo>
                  <a:pt x="85131" y="21600"/>
                </a:lnTo>
                <a:arcTo wR="1205" hR="1205" stAng="5400000" swAng="-5400000"/>
                <a:lnTo>
                  <a:pt x="86336" y="1205"/>
                </a:lnTo>
                <a:arcTo wR="1205" hR="1205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6"/>
          <p:cNvSpPr/>
          <p:nvPr/>
        </p:nvSpPr>
        <p:spPr>
          <a:xfrm>
            <a:off x="993960" y="4531320"/>
            <a:ext cx="31496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TEAM NAME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993960" y="4795560"/>
            <a:ext cx="314964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8"/>
          <p:cNvSpPr/>
          <p:nvPr/>
        </p:nvSpPr>
        <p:spPr>
          <a:xfrm>
            <a:off x="4388760" y="4378680"/>
            <a:ext cx="3414240" cy="853920"/>
          </a:xfrm>
          <a:custGeom>
            <a:avLst/>
            <a:gdLst>
              <a:gd name="textAreaLeft" fmla="*/ 13680 w 3414240"/>
              <a:gd name="textAreaRight" fmla="*/ 3400560 w 3414240"/>
              <a:gd name="textAreaTop" fmla="*/ 13680 h 853920"/>
              <a:gd name="textAreaBottom" fmla="*/ 840240 h 853920"/>
            </a:gdLst>
            <a:ahLst/>
            <a:cxnLst/>
            <a:rect l="textAreaLeft" t="textAreaTop" r="textAreaRight" b="textAreaBottom"/>
            <a:pathLst>
              <a:path w="86336" h="21600">
                <a:moveTo>
                  <a:pt x="1205" y="0"/>
                </a:moveTo>
                <a:arcTo wR="1205" hR="1205" stAng="16200000" swAng="-5400000"/>
                <a:lnTo>
                  <a:pt x="0" y="20395"/>
                </a:lnTo>
                <a:arcTo wR="1205" hR="1205" stAng="10800000" swAng="-5400000"/>
                <a:lnTo>
                  <a:pt x="85131" y="21600"/>
                </a:lnTo>
                <a:arcTo wR="1205" hR="1205" stAng="5400000" swAng="-5400000"/>
                <a:lnTo>
                  <a:pt x="86336" y="1205"/>
                </a:lnTo>
                <a:arcTo wR="1205" hR="1205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9"/>
          <p:cNvSpPr/>
          <p:nvPr/>
        </p:nvSpPr>
        <p:spPr>
          <a:xfrm>
            <a:off x="4566960" y="4531320"/>
            <a:ext cx="31496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TEAM 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0"/>
          <p:cNvSpPr/>
          <p:nvPr/>
        </p:nvSpPr>
        <p:spPr>
          <a:xfrm>
            <a:off x="4566960" y="4795560"/>
            <a:ext cx="314964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JZ8M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7961760" y="4378680"/>
            <a:ext cx="3414240" cy="853920"/>
          </a:xfrm>
          <a:custGeom>
            <a:avLst/>
            <a:gdLst>
              <a:gd name="textAreaLeft" fmla="*/ 13680 w 3414240"/>
              <a:gd name="textAreaRight" fmla="*/ 3400560 w 3414240"/>
              <a:gd name="textAreaTop" fmla="*/ 13680 h 853920"/>
              <a:gd name="textAreaBottom" fmla="*/ 840240 h 853920"/>
            </a:gdLst>
            <a:ahLst/>
            <a:cxnLst/>
            <a:rect l="textAreaLeft" t="textAreaTop" r="textAreaRight" b="textAreaBottom"/>
            <a:pathLst>
              <a:path w="86336" h="21600">
                <a:moveTo>
                  <a:pt x="1205" y="0"/>
                </a:moveTo>
                <a:arcTo wR="1205" hR="1205" stAng="16200000" swAng="-5400000"/>
                <a:lnTo>
                  <a:pt x="0" y="20395"/>
                </a:lnTo>
                <a:arcTo wR="1205" hR="1205" stAng="10800000" swAng="-5400000"/>
                <a:lnTo>
                  <a:pt x="85131" y="21600"/>
                </a:lnTo>
                <a:arcTo wR="1205" hR="1205" stAng="5400000" swAng="-5400000"/>
                <a:lnTo>
                  <a:pt x="86336" y="1205"/>
                </a:lnTo>
                <a:arcTo wR="1205" hR="1205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2"/>
          <p:cNvSpPr/>
          <p:nvPr/>
        </p:nvSpPr>
        <p:spPr>
          <a:xfrm>
            <a:off x="8139960" y="4531320"/>
            <a:ext cx="31496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TEAM LEADER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13"/>
          <p:cNvSpPr/>
          <p:nvPr/>
        </p:nvSpPr>
        <p:spPr>
          <a:xfrm>
            <a:off x="8139960" y="4795560"/>
            <a:ext cx="314964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Saurabh Singh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4"/>
          <p:cNvSpPr/>
          <p:nvPr/>
        </p:nvSpPr>
        <p:spPr>
          <a:xfrm>
            <a:off x="816120" y="5391360"/>
            <a:ext cx="6987240" cy="853920"/>
          </a:xfrm>
          <a:custGeom>
            <a:avLst/>
            <a:gdLst>
              <a:gd name="textAreaLeft" fmla="*/ 13680 w 6987240"/>
              <a:gd name="textAreaRight" fmla="*/ 6973560 w 6987240"/>
              <a:gd name="textAreaTop" fmla="*/ 13680 h 853920"/>
              <a:gd name="textAreaBottom" fmla="*/ 840240 h 853920"/>
            </a:gdLst>
            <a:ahLst/>
            <a:cxnLst/>
            <a:rect l="textAreaLeft" t="textAreaTop" r="textAreaRight" b="textAreaBottom"/>
            <a:pathLst>
              <a:path w="176678" h="21600">
                <a:moveTo>
                  <a:pt x="1205" y="0"/>
                </a:moveTo>
                <a:arcTo wR="1205" hR="1205" stAng="16200000" swAng="-5400000"/>
                <a:lnTo>
                  <a:pt x="0" y="20395"/>
                </a:lnTo>
                <a:arcTo wR="1205" hR="1205" stAng="10800000" swAng="-5400000"/>
                <a:lnTo>
                  <a:pt x="175473" y="21600"/>
                </a:lnTo>
                <a:arcTo wR="1205" hR="1205" stAng="5400000" swAng="-5400000"/>
                <a:lnTo>
                  <a:pt x="176678" y="1205"/>
                </a:lnTo>
                <a:arcTo wR="1205" hR="1205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5"/>
          <p:cNvSpPr/>
          <p:nvPr/>
        </p:nvSpPr>
        <p:spPr>
          <a:xfrm>
            <a:off x="993960" y="5544000"/>
            <a:ext cx="68299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PROBLEM STATEMENT TITLE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6"/>
          <p:cNvSpPr/>
          <p:nvPr/>
        </p:nvSpPr>
        <p:spPr>
          <a:xfrm>
            <a:off x="993960" y="5808240"/>
            <a:ext cx="682992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F6F0E6"/>
                </a:solidFill>
                <a:effectLst/>
                <a:uFillTx/>
                <a:latin typeface="Public Sans"/>
              </a:rPr>
              <a:t> Ai Urban Farming Assistant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7"/>
          <p:cNvSpPr/>
          <p:nvPr/>
        </p:nvSpPr>
        <p:spPr>
          <a:xfrm>
            <a:off x="7961760" y="5391360"/>
            <a:ext cx="3414240" cy="853920"/>
          </a:xfrm>
          <a:custGeom>
            <a:avLst/>
            <a:gdLst>
              <a:gd name="textAreaLeft" fmla="*/ 13680 w 3414240"/>
              <a:gd name="textAreaRight" fmla="*/ 3400560 w 3414240"/>
              <a:gd name="textAreaTop" fmla="*/ 13680 h 853920"/>
              <a:gd name="textAreaBottom" fmla="*/ 840240 h 853920"/>
            </a:gdLst>
            <a:ahLst/>
            <a:cxnLst/>
            <a:rect l="textAreaLeft" t="textAreaTop" r="textAreaRight" b="textAreaBottom"/>
            <a:pathLst>
              <a:path w="86336" h="21600">
                <a:moveTo>
                  <a:pt x="1205" y="0"/>
                </a:moveTo>
                <a:arcTo wR="1205" hR="1205" stAng="16200000" swAng="-5400000"/>
                <a:lnTo>
                  <a:pt x="0" y="20395"/>
                </a:lnTo>
                <a:arcTo wR="1205" hR="1205" stAng="10800000" swAng="-5400000"/>
                <a:lnTo>
                  <a:pt x="85131" y="21600"/>
                </a:lnTo>
                <a:arcTo wR="1205" hR="1205" stAng="5400000" swAng="-5400000"/>
                <a:lnTo>
                  <a:pt x="86336" y="1205"/>
                </a:lnTo>
                <a:arcTo wR="1205" hR="1205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8"/>
          <p:cNvSpPr/>
          <p:nvPr/>
        </p:nvSpPr>
        <p:spPr>
          <a:xfrm>
            <a:off x="8139960" y="5544000"/>
            <a:ext cx="31496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THEME / TRACK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9"/>
          <p:cNvSpPr/>
          <p:nvPr/>
        </p:nvSpPr>
        <p:spPr>
          <a:xfrm>
            <a:off x="8139960" y="5808240"/>
            <a:ext cx="3149640" cy="3099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239"/>
              </a:lnSpc>
            </a:pPr>
            <a:r>
              <a:rPr lang="en-US" sz="16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Software , IOT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4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5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36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01 · THE TARGET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PROBLEM STATEMENT &amp; UNDERSTANDING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4"/>
          <p:cNvSpPr/>
          <p:nvPr/>
        </p:nvSpPr>
        <p:spPr>
          <a:xfrm>
            <a:off x="816120" y="2319480"/>
            <a:ext cx="5175360" cy="3519360"/>
          </a:xfrm>
          <a:custGeom>
            <a:avLst/>
            <a:gdLst>
              <a:gd name="textAreaLeft" fmla="*/ 21240 w 5175360"/>
              <a:gd name="textAreaRight" fmla="*/ 5154120 w 517536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31763" h="21600">
                <a:moveTo>
                  <a:pt x="448" y="0"/>
                </a:moveTo>
                <a:arcTo wR="448" hR="448" stAng="16200000" swAng="-5400000"/>
                <a:lnTo>
                  <a:pt x="0" y="21152"/>
                </a:lnTo>
                <a:arcTo wR="448" hR="448" stAng="10800000" swAng="-5400000"/>
                <a:lnTo>
                  <a:pt x="31315" y="21600"/>
                </a:lnTo>
                <a:arcTo wR="448" hR="448" stAng="5400000" swAng="-5400000"/>
                <a:lnTo>
                  <a:pt x="31763" y="448"/>
                </a:lnTo>
                <a:arcTo wR="448" hR="448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5"/>
          <p:cNvSpPr/>
          <p:nvPr/>
        </p:nvSpPr>
        <p:spPr>
          <a:xfrm>
            <a:off x="1070280" y="2548440"/>
            <a:ext cx="480672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PROBLEM STATEMENT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6"/>
          <p:cNvSpPr/>
          <p:nvPr/>
        </p:nvSpPr>
        <p:spPr>
          <a:xfrm>
            <a:off x="1092240" y="2949480"/>
            <a:ext cx="4787280" cy="2865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Problem</a:t>
            </a:r>
            <a:r>
              <a:rPr lang="en-IN" sz="1400" dirty="0"/>
              <a:t>: Plant disease detection, watering, and care challenges.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Affected</a:t>
            </a:r>
            <a:r>
              <a:rPr lang="en-IN" sz="1400" dirty="0"/>
              <a:t> </a:t>
            </a:r>
            <a:r>
              <a:rPr lang="en-IN" sz="1400" b="1" dirty="0"/>
              <a:t>Users</a:t>
            </a:r>
            <a:r>
              <a:rPr lang="en-IN" sz="1400" dirty="0"/>
              <a:t>: Home gardeners and small farmers.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Impact</a:t>
            </a:r>
            <a:r>
              <a:rPr lang="en-IN" sz="1400" dirty="0"/>
              <a:t>: Plant loss, water waste, and reduced sustainability.</a:t>
            </a:r>
          </a:p>
        </p:txBody>
      </p:sp>
      <p:sp>
        <p:nvSpPr>
          <p:cNvPr id="43" name="Shape 7"/>
          <p:cNvSpPr/>
          <p:nvPr/>
        </p:nvSpPr>
        <p:spPr>
          <a:xfrm>
            <a:off x="6200640" y="2319480"/>
            <a:ext cx="5175360" cy="3519360"/>
          </a:xfrm>
          <a:custGeom>
            <a:avLst/>
            <a:gdLst>
              <a:gd name="textAreaLeft" fmla="*/ 21240 w 5175360"/>
              <a:gd name="textAreaRight" fmla="*/ 5154120 w 517536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31763" h="21600">
                <a:moveTo>
                  <a:pt x="448" y="0"/>
                </a:moveTo>
                <a:arcTo wR="448" hR="448" stAng="16200000" swAng="-5400000"/>
                <a:lnTo>
                  <a:pt x="0" y="21152"/>
                </a:lnTo>
                <a:arcTo wR="448" hR="448" stAng="10800000" swAng="-5400000"/>
                <a:lnTo>
                  <a:pt x="31315" y="21600"/>
                </a:lnTo>
                <a:arcTo wR="448" hR="448" stAng="5400000" swAng="-5400000"/>
                <a:lnTo>
                  <a:pt x="31763" y="448"/>
                </a:lnTo>
                <a:arcTo wR="448" hR="448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8"/>
          <p:cNvSpPr/>
          <p:nvPr/>
        </p:nvSpPr>
        <p:spPr>
          <a:xfrm>
            <a:off x="6455160" y="2548440"/>
            <a:ext cx="480672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OUR UNDERSTANDING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9"/>
          <p:cNvSpPr/>
          <p:nvPr/>
        </p:nvSpPr>
        <p:spPr>
          <a:xfrm>
            <a:off x="6477120" y="2939040"/>
            <a:ext cx="4787280" cy="27507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Root Cause</a:t>
            </a:r>
            <a:r>
              <a:rPr lang="en-IN" sz="1400" dirty="0"/>
              <a:t>: Lack of expert, personalized plant-care guidance.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Solution Gap</a:t>
            </a:r>
            <a:r>
              <a:rPr lang="en-IN" sz="1400" dirty="0"/>
              <a:t>: No single tool for complete plant care.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Why Now</a:t>
            </a:r>
            <a:r>
              <a:rPr lang="en-IN" sz="1400" dirty="0"/>
              <a:t>: AI and weather APIs enable smart, instant plant-care advice.</a:t>
            </a:r>
          </a:p>
        </p:txBody>
      </p:sp>
      <p:sp>
        <p:nvSpPr>
          <p:cNvPr id="46" name="Text 10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1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49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50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51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02 · THE PLAN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PROPOSED SOLUTION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816120" y="2319480"/>
            <a:ext cx="5161320" cy="3519360"/>
          </a:xfrm>
          <a:custGeom>
            <a:avLst/>
            <a:gdLst>
              <a:gd name="textAreaLeft" fmla="*/ 21240 w 5161320"/>
              <a:gd name="textAreaRight" fmla="*/ 5140080 w 516132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31676" h="21600">
                <a:moveTo>
                  <a:pt x="448" y="0"/>
                </a:moveTo>
                <a:arcTo wR="448" hR="448" stAng="16200000" swAng="-5400000"/>
                <a:lnTo>
                  <a:pt x="0" y="21152"/>
                </a:lnTo>
                <a:arcTo wR="448" hR="448" stAng="10800000" swAng="-5400000"/>
                <a:lnTo>
                  <a:pt x="31228" y="21600"/>
                </a:lnTo>
                <a:arcTo wR="448" hR="448" stAng="5400000" swAng="-5400000"/>
                <a:lnTo>
                  <a:pt x="31676" y="448"/>
                </a:lnTo>
                <a:arcTo wR="448" hR="448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1070280" y="2548440"/>
            <a:ext cx="479196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OUR IDEA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1092240" y="2949480"/>
            <a:ext cx="4772880" cy="2747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AI Farming Assistant</a:t>
            </a:r>
            <a:r>
              <a:rPr lang="en-IN" sz="1400" dirty="0"/>
              <a:t>: Disease diagnosis and personalized plant care.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Workflow</a:t>
            </a:r>
            <a:r>
              <a:rPr lang="en-IN" sz="1400" dirty="0"/>
              <a:t>: Upload → Diagnose → Treat → Water → Track</a:t>
            </a:r>
            <a:r>
              <a:rPr lang="en-IN" sz="1200" dirty="0"/>
              <a:t>.</a:t>
            </a:r>
            <a:endParaRPr lang="en-IN" sz="1400" dirty="0"/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Key Features</a:t>
            </a:r>
            <a:r>
              <a:rPr lang="en-IN" sz="1400" dirty="0"/>
              <a:t>: AI diagnosis, smart watering, plant tracking, mandi prices, and multilingual support.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Target Users</a:t>
            </a:r>
            <a:r>
              <a:rPr lang="en-IN" sz="1400" dirty="0"/>
              <a:t>: Home gardeners, urban growers, and local farmers.</a:t>
            </a:r>
          </a:p>
        </p:txBody>
      </p:sp>
      <p:sp>
        <p:nvSpPr>
          <p:cNvPr id="58" name="Text 8"/>
          <p:cNvSpPr/>
          <p:nvPr/>
        </p:nvSpPr>
        <p:spPr>
          <a:xfrm>
            <a:off x="6582600" y="3809880"/>
            <a:ext cx="4397400" cy="27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9"/>
          <p:cNvSpPr/>
          <p:nvPr/>
        </p:nvSpPr>
        <p:spPr>
          <a:xfrm>
            <a:off x="7093800" y="4134960"/>
            <a:ext cx="3375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0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" name="Picture 17"/>
          <p:cNvPicPr/>
          <p:nvPr/>
        </p:nvPicPr>
        <p:blipFill>
          <a:blip r:embed="rId6"/>
          <a:srcRect l="-1243" t="-269" r="1036" b="269"/>
          <a:stretch/>
        </p:blipFill>
        <p:spPr>
          <a:xfrm>
            <a:off x="6095880" y="1924920"/>
            <a:ext cx="5423400" cy="3913200"/>
          </a:xfrm>
          <a:prstGeom prst="rect">
            <a:avLst/>
          </a:prstGeom>
          <a:noFill/>
          <a:ln w="1260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64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65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66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03 · THE ARSENAL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KEY FEATURES / FUNCTIONALITY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4"/>
          <p:cNvSpPr/>
          <p:nvPr/>
        </p:nvSpPr>
        <p:spPr>
          <a:xfrm>
            <a:off x="816120" y="2319480"/>
            <a:ext cx="5200560" cy="1680480"/>
          </a:xfrm>
          <a:custGeom>
            <a:avLst/>
            <a:gdLst>
              <a:gd name="textAreaLeft" fmla="*/ 21240 w 5200560"/>
              <a:gd name="textAreaRight" fmla="*/ 5179320 w 5200560"/>
              <a:gd name="textAreaTop" fmla="*/ 21240 h 1680480"/>
              <a:gd name="textAreaBottom" fmla="*/ 1659240 h 1680480"/>
            </a:gdLst>
            <a:ahLst/>
            <a:cxnLst/>
            <a:rect l="textAreaLeft" t="textAreaTop" r="textAreaRight" b="textAreaBottom"/>
            <a:pathLst>
              <a:path w="66836" h="21600">
                <a:moveTo>
                  <a:pt x="939" y="0"/>
                </a:moveTo>
                <a:arcTo wR="939" hR="939" stAng="16200000" swAng="-5400000"/>
                <a:lnTo>
                  <a:pt x="0" y="20661"/>
                </a:lnTo>
                <a:arcTo wR="939" hR="939" stAng="10800000" swAng="-5400000"/>
                <a:lnTo>
                  <a:pt x="65897" y="21600"/>
                </a:lnTo>
                <a:arcTo wR="939" hR="939" stAng="5400000" swAng="-5400000"/>
                <a:lnTo>
                  <a:pt x="66836" y="939"/>
                </a:lnTo>
                <a:arcTo wR="939" hR="939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5"/>
          <p:cNvSpPr/>
          <p:nvPr/>
        </p:nvSpPr>
        <p:spPr>
          <a:xfrm>
            <a:off x="1019520" y="2497680"/>
            <a:ext cx="558720" cy="43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3200"/>
              </a:lnSpc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01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6"/>
          <p:cNvSpPr/>
          <p:nvPr/>
        </p:nvSpPr>
        <p:spPr>
          <a:xfrm>
            <a:off x="1679760" y="2497680"/>
            <a:ext cx="4257360" cy="26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919"/>
              </a:lnSpc>
            </a:pPr>
            <a:r>
              <a:rPr lang="en-US" sz="1600" b="1" u="none" strike="noStrike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Ai Plant Disease Diagnosis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7"/>
          <p:cNvSpPr/>
          <p:nvPr/>
        </p:nvSpPr>
        <p:spPr>
          <a:xfrm>
            <a:off x="1679760" y="2771280"/>
            <a:ext cx="4309560" cy="9871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just">
              <a:lnSpc>
                <a:spcPts val="1820"/>
              </a:lnSpc>
            </a:pPr>
            <a:r>
              <a:rPr lang="en-US" sz="1400" b="0" u="none" strike="noStrike" dirty="0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Upload a leaf image to identify common plant diseases and receive instant treatment recommendations. Helps gardeners detect problems early and protect their plants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8"/>
          <p:cNvSpPr/>
          <p:nvPr/>
        </p:nvSpPr>
        <p:spPr>
          <a:xfrm>
            <a:off x="6175440" y="2319480"/>
            <a:ext cx="5200560" cy="1680480"/>
          </a:xfrm>
          <a:custGeom>
            <a:avLst/>
            <a:gdLst>
              <a:gd name="textAreaLeft" fmla="*/ 21240 w 5200560"/>
              <a:gd name="textAreaRight" fmla="*/ 5179320 w 5200560"/>
              <a:gd name="textAreaTop" fmla="*/ 21240 h 1680480"/>
              <a:gd name="textAreaBottom" fmla="*/ 1659240 h 1680480"/>
            </a:gdLst>
            <a:ahLst/>
            <a:cxnLst/>
            <a:rect l="textAreaLeft" t="textAreaTop" r="textAreaRight" b="textAreaBottom"/>
            <a:pathLst>
              <a:path w="66836" h="21600">
                <a:moveTo>
                  <a:pt x="939" y="0"/>
                </a:moveTo>
                <a:arcTo wR="939" hR="939" stAng="16200000" swAng="-5400000"/>
                <a:lnTo>
                  <a:pt x="0" y="20661"/>
                </a:lnTo>
                <a:arcTo wR="939" hR="939" stAng="10800000" swAng="-5400000"/>
                <a:lnTo>
                  <a:pt x="65897" y="21600"/>
                </a:lnTo>
                <a:arcTo wR="939" hR="939" stAng="5400000" swAng="-5400000"/>
                <a:lnTo>
                  <a:pt x="66836" y="939"/>
                </a:lnTo>
                <a:arcTo wR="939" hR="939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9"/>
          <p:cNvSpPr/>
          <p:nvPr/>
        </p:nvSpPr>
        <p:spPr>
          <a:xfrm>
            <a:off x="6378840" y="2497680"/>
            <a:ext cx="558720" cy="43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3200"/>
              </a:lnSpc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02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0"/>
          <p:cNvSpPr/>
          <p:nvPr/>
        </p:nvSpPr>
        <p:spPr>
          <a:xfrm>
            <a:off x="7039080" y="2497680"/>
            <a:ext cx="4257360" cy="26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919"/>
              </a:lnSpc>
            </a:pPr>
            <a:r>
              <a:rPr lang="en-US" sz="1600" b="1" u="none" strike="noStrike">
                <a:solidFill>
                  <a:srgbClr val="1E1917"/>
                </a:solidFill>
                <a:effectLst/>
                <a:uFillTx/>
                <a:latin typeface="Public Sans"/>
              </a:rPr>
              <a:t>Weather-Based Smart Irrigation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1"/>
          <p:cNvSpPr/>
          <p:nvPr/>
        </p:nvSpPr>
        <p:spPr>
          <a:xfrm>
            <a:off x="7039080" y="2781720"/>
            <a:ext cx="4309560" cy="1091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just">
              <a:lnSpc>
                <a:spcPts val="1820"/>
              </a:lnSpc>
            </a:pPr>
            <a:r>
              <a:rPr lang="en-US" sz="1400" b="0" u="none" strike="noStrike" dirty="0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Combines plant growth stage with live weather data to recommend watering frequency and delay irrigation when rain is expected, reducing unnecessary water use.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12"/>
          <p:cNvSpPr/>
          <p:nvPr/>
        </p:nvSpPr>
        <p:spPr>
          <a:xfrm>
            <a:off x="899280" y="4158360"/>
            <a:ext cx="5200560" cy="1680480"/>
          </a:xfrm>
          <a:custGeom>
            <a:avLst/>
            <a:gdLst>
              <a:gd name="textAreaLeft" fmla="*/ 21240 w 5200560"/>
              <a:gd name="textAreaRight" fmla="*/ 5179320 w 5200560"/>
              <a:gd name="textAreaTop" fmla="*/ 21240 h 1680480"/>
              <a:gd name="textAreaBottom" fmla="*/ 1659240 h 1680480"/>
            </a:gdLst>
            <a:ahLst/>
            <a:cxnLst/>
            <a:rect l="textAreaLeft" t="textAreaTop" r="textAreaRight" b="textAreaBottom"/>
            <a:pathLst>
              <a:path w="66836" h="21600">
                <a:moveTo>
                  <a:pt x="939" y="0"/>
                </a:moveTo>
                <a:arcTo wR="939" hR="939" stAng="16200000" swAng="-5400000"/>
                <a:lnTo>
                  <a:pt x="0" y="20661"/>
                </a:lnTo>
                <a:arcTo wR="939" hR="939" stAng="10800000" swAng="-5400000"/>
                <a:lnTo>
                  <a:pt x="65897" y="21600"/>
                </a:lnTo>
                <a:arcTo wR="939" hR="939" stAng="5400000" swAng="-5400000"/>
                <a:lnTo>
                  <a:pt x="66836" y="939"/>
                </a:lnTo>
                <a:arcTo wR="939" hR="939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3"/>
          <p:cNvSpPr/>
          <p:nvPr/>
        </p:nvSpPr>
        <p:spPr>
          <a:xfrm>
            <a:off x="1019520" y="4336560"/>
            <a:ext cx="558720" cy="43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3200"/>
              </a:lnSpc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03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4"/>
          <p:cNvSpPr/>
          <p:nvPr/>
        </p:nvSpPr>
        <p:spPr>
          <a:xfrm>
            <a:off x="1679760" y="4336560"/>
            <a:ext cx="4257360" cy="26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919"/>
              </a:lnSpc>
            </a:pPr>
            <a:r>
              <a:rPr lang="en-US" sz="1600" b="1" u="none" strike="noStrike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Plant Health Tracking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5"/>
          <p:cNvSpPr/>
          <p:nvPr/>
        </p:nvSpPr>
        <p:spPr>
          <a:xfrm>
            <a:off x="1679760" y="4610160"/>
            <a:ext cx="4299120" cy="111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just">
              <a:lnSpc>
                <a:spcPts val="1820"/>
              </a:lnSpc>
            </a:pPr>
            <a:r>
              <a:rPr lang="en-US" sz="1400" b="0" u="none" strike="noStrike" dirty="0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Track plants, growth stages, planting dates, photos and health scores in one place, with reminders for watering, fertilizing and pruning.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6"/>
          <p:cNvSpPr/>
          <p:nvPr/>
        </p:nvSpPr>
        <p:spPr>
          <a:xfrm>
            <a:off x="6175440" y="4158360"/>
            <a:ext cx="5200560" cy="1680480"/>
          </a:xfrm>
          <a:custGeom>
            <a:avLst/>
            <a:gdLst>
              <a:gd name="textAreaLeft" fmla="*/ 21240 w 5200560"/>
              <a:gd name="textAreaRight" fmla="*/ 5179320 w 5200560"/>
              <a:gd name="textAreaTop" fmla="*/ 21240 h 1680480"/>
              <a:gd name="textAreaBottom" fmla="*/ 1659240 h 1680480"/>
            </a:gdLst>
            <a:ahLst/>
            <a:cxnLst/>
            <a:rect l="textAreaLeft" t="textAreaTop" r="textAreaRight" b="textAreaBottom"/>
            <a:pathLst>
              <a:path w="66836" h="21600">
                <a:moveTo>
                  <a:pt x="939" y="0"/>
                </a:moveTo>
                <a:arcTo wR="939" hR="939" stAng="16200000" swAng="-5400000"/>
                <a:lnTo>
                  <a:pt x="0" y="20661"/>
                </a:lnTo>
                <a:arcTo wR="939" hR="939" stAng="10800000" swAng="-5400000"/>
                <a:lnTo>
                  <a:pt x="65897" y="21600"/>
                </a:lnTo>
                <a:arcTo wR="939" hR="939" stAng="5400000" swAng="-5400000"/>
                <a:lnTo>
                  <a:pt x="66836" y="939"/>
                </a:lnTo>
                <a:arcTo wR="939" hR="939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6378840" y="4336560"/>
            <a:ext cx="558720" cy="4316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3200"/>
              </a:lnSpc>
            </a:pPr>
            <a:r>
              <a:rPr lang="en-US" sz="32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04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8"/>
          <p:cNvSpPr/>
          <p:nvPr/>
        </p:nvSpPr>
        <p:spPr>
          <a:xfrm>
            <a:off x="7039080" y="4336560"/>
            <a:ext cx="4257360" cy="269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919"/>
              </a:lnSpc>
            </a:pPr>
            <a:r>
              <a:rPr lang="en-US" sz="1600" b="1" u="none" strike="noStrike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Krishi AI Assistant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9"/>
          <p:cNvSpPr/>
          <p:nvPr/>
        </p:nvSpPr>
        <p:spPr>
          <a:xfrm>
            <a:off x="7039080" y="4620600"/>
            <a:ext cx="4299120" cy="976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just">
              <a:lnSpc>
                <a:spcPts val="1820"/>
              </a:lnSpc>
            </a:pPr>
            <a:r>
              <a:rPr lang="en-US" sz="1400" b="0" u="none" strike="noStrike" dirty="0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Get personalized farming guidance through an AI assistant supporting English, Hindi and Gujarati, including pest control, soil, irrigation and plant-care queries.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20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1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Dashanan]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89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90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91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04 · THE EXECUTION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HOW THE SOLUTION WILL WORK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4"/>
          <p:cNvSpPr/>
          <p:nvPr/>
        </p:nvSpPr>
        <p:spPr>
          <a:xfrm>
            <a:off x="812880" y="2316240"/>
            <a:ext cx="2317680" cy="791640"/>
          </a:xfrm>
          <a:custGeom>
            <a:avLst/>
            <a:gdLst>
              <a:gd name="textAreaLeft" fmla="*/ 22320 w 2317680"/>
              <a:gd name="textAreaRight" fmla="*/ 2295360 w 2317680"/>
              <a:gd name="textAreaTop" fmla="*/ 22320 h 791640"/>
              <a:gd name="textAreaBottom" fmla="*/ 769320 h 791640"/>
            </a:gdLst>
            <a:ahLst/>
            <a:cxnLst/>
            <a:rect l="textAreaLeft" t="textAreaTop" r="textAreaRight" b="textAreaBottom"/>
            <a:pathLst>
              <a:path w="63219" h="21600">
                <a:moveTo>
                  <a:pt x="2079" y="0"/>
                </a:moveTo>
                <a:arcTo wR="2079" hR="2079" stAng="16200000" swAng="-5400000"/>
                <a:lnTo>
                  <a:pt x="0" y="19521"/>
                </a:lnTo>
                <a:arcTo wR="2079" hR="2079" stAng="10800000" swAng="-5400000"/>
                <a:lnTo>
                  <a:pt x="61140" y="21600"/>
                </a:lnTo>
                <a:arcTo wR="2079" hR="2079" stAng="5400000" swAng="-5400000"/>
                <a:lnTo>
                  <a:pt x="63219" y="2079"/>
                </a:lnTo>
                <a:arcTo wR="2079" hR="2079" stAng="0" swAng="-5400000"/>
                <a:close/>
              </a:path>
            </a:pathLst>
          </a:custGeom>
          <a:solidFill>
            <a:srgbClr val="17120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990360" y="2468520"/>
            <a:ext cx="20210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STEP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6"/>
          <p:cNvSpPr/>
          <p:nvPr/>
        </p:nvSpPr>
        <p:spPr>
          <a:xfrm>
            <a:off x="990360" y="2732760"/>
            <a:ext cx="2021040" cy="24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 dirty="0">
                <a:solidFill>
                  <a:srgbClr val="F6F0E6"/>
                </a:solidFill>
                <a:effectLst/>
                <a:uFillTx/>
                <a:latin typeface="Public Sans"/>
              </a:rPr>
              <a:t>Upload Image Or Text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3" descr="connector"/>
          <p:cNvPicPr/>
          <p:nvPr/>
        </p:nvPicPr>
        <p:blipFill>
          <a:blip r:embed="rId6"/>
          <a:stretch/>
        </p:blipFill>
        <p:spPr>
          <a:xfrm>
            <a:off x="3206880" y="2648520"/>
            <a:ext cx="279360" cy="1270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99" name="Shape 7"/>
          <p:cNvSpPr/>
          <p:nvPr/>
        </p:nvSpPr>
        <p:spPr>
          <a:xfrm>
            <a:off x="3562200" y="2316240"/>
            <a:ext cx="2317680" cy="791640"/>
          </a:xfrm>
          <a:custGeom>
            <a:avLst/>
            <a:gdLst>
              <a:gd name="textAreaLeft" fmla="*/ 22320 w 2317680"/>
              <a:gd name="textAreaRight" fmla="*/ 2295360 w 2317680"/>
              <a:gd name="textAreaTop" fmla="*/ 22320 h 791640"/>
              <a:gd name="textAreaBottom" fmla="*/ 769320 h 791640"/>
            </a:gdLst>
            <a:ahLst/>
            <a:cxnLst/>
            <a:rect l="textAreaLeft" t="textAreaTop" r="textAreaRight" b="textAreaBottom"/>
            <a:pathLst>
              <a:path w="63219" h="21600">
                <a:moveTo>
                  <a:pt x="2079" y="0"/>
                </a:moveTo>
                <a:arcTo wR="2079" hR="2079" stAng="16200000" swAng="-5400000"/>
                <a:lnTo>
                  <a:pt x="0" y="19521"/>
                </a:lnTo>
                <a:arcTo wR="2079" hR="2079" stAng="10800000" swAng="-5400000"/>
                <a:lnTo>
                  <a:pt x="61140" y="21600"/>
                </a:lnTo>
                <a:arcTo wR="2079" hR="2079" stAng="5400000" swAng="-5400000"/>
                <a:lnTo>
                  <a:pt x="63219" y="2079"/>
                </a:lnTo>
                <a:arcTo wR="2079" hR="2079" stAng="0" swAng="-5400000"/>
                <a:close/>
              </a:path>
            </a:pathLst>
          </a:custGeom>
          <a:solidFill>
            <a:srgbClr val="17120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8"/>
          <p:cNvSpPr/>
          <p:nvPr/>
        </p:nvSpPr>
        <p:spPr>
          <a:xfrm>
            <a:off x="3740040" y="2468520"/>
            <a:ext cx="20210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STEP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9"/>
          <p:cNvSpPr/>
          <p:nvPr/>
        </p:nvSpPr>
        <p:spPr>
          <a:xfrm>
            <a:off x="3740040" y="2732760"/>
            <a:ext cx="2021040" cy="24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 dirty="0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Processing by AI / IOT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4" descr="connector"/>
          <p:cNvPicPr/>
          <p:nvPr/>
        </p:nvPicPr>
        <p:blipFill>
          <a:blip r:embed="rId6"/>
          <a:stretch/>
        </p:blipFill>
        <p:spPr>
          <a:xfrm>
            <a:off x="5956200" y="2648520"/>
            <a:ext cx="279360" cy="1270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03" name="Shape 10"/>
          <p:cNvSpPr/>
          <p:nvPr/>
        </p:nvSpPr>
        <p:spPr>
          <a:xfrm>
            <a:off x="6311880" y="2316240"/>
            <a:ext cx="2317680" cy="791640"/>
          </a:xfrm>
          <a:custGeom>
            <a:avLst/>
            <a:gdLst>
              <a:gd name="textAreaLeft" fmla="*/ 22320 w 2317680"/>
              <a:gd name="textAreaRight" fmla="*/ 2295360 w 2317680"/>
              <a:gd name="textAreaTop" fmla="*/ 22320 h 791640"/>
              <a:gd name="textAreaBottom" fmla="*/ 769320 h 791640"/>
            </a:gdLst>
            <a:ahLst/>
            <a:cxnLst/>
            <a:rect l="textAreaLeft" t="textAreaTop" r="textAreaRight" b="textAreaBottom"/>
            <a:pathLst>
              <a:path w="63219" h="21600">
                <a:moveTo>
                  <a:pt x="2079" y="0"/>
                </a:moveTo>
                <a:arcTo wR="2079" hR="2079" stAng="16200000" swAng="-5400000"/>
                <a:lnTo>
                  <a:pt x="0" y="19521"/>
                </a:lnTo>
                <a:arcTo wR="2079" hR="2079" stAng="10800000" swAng="-5400000"/>
                <a:lnTo>
                  <a:pt x="61140" y="21600"/>
                </a:lnTo>
                <a:arcTo wR="2079" hR="2079" stAng="5400000" swAng="-5400000"/>
                <a:lnTo>
                  <a:pt x="63219" y="2079"/>
                </a:lnTo>
                <a:arcTo wR="2079" hR="2079" stAng="0" swAng="-5400000"/>
                <a:close/>
              </a:path>
            </a:pathLst>
          </a:custGeom>
          <a:solidFill>
            <a:srgbClr val="17120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11"/>
          <p:cNvSpPr/>
          <p:nvPr/>
        </p:nvSpPr>
        <p:spPr>
          <a:xfrm>
            <a:off x="6489720" y="2468520"/>
            <a:ext cx="20210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STEP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489720" y="2732760"/>
            <a:ext cx="2140200" cy="24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Virtual ESP32 , Sensior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Image 5" descr="connector"/>
          <p:cNvPicPr/>
          <p:nvPr/>
        </p:nvPicPr>
        <p:blipFill>
          <a:blip r:embed="rId6"/>
          <a:stretch/>
        </p:blipFill>
        <p:spPr>
          <a:xfrm>
            <a:off x="8705880" y="2648520"/>
            <a:ext cx="279360" cy="1270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07" name="Shape 13"/>
          <p:cNvSpPr/>
          <p:nvPr/>
        </p:nvSpPr>
        <p:spPr>
          <a:xfrm>
            <a:off x="9061200" y="2316240"/>
            <a:ext cx="2317680" cy="791640"/>
          </a:xfrm>
          <a:custGeom>
            <a:avLst/>
            <a:gdLst>
              <a:gd name="textAreaLeft" fmla="*/ 22320 w 2317680"/>
              <a:gd name="textAreaRight" fmla="*/ 2295360 w 2317680"/>
              <a:gd name="textAreaTop" fmla="*/ 22320 h 791640"/>
              <a:gd name="textAreaBottom" fmla="*/ 769320 h 791640"/>
            </a:gdLst>
            <a:ahLst/>
            <a:cxnLst/>
            <a:rect l="textAreaLeft" t="textAreaTop" r="textAreaRight" b="textAreaBottom"/>
            <a:pathLst>
              <a:path w="63219" h="21600">
                <a:moveTo>
                  <a:pt x="2079" y="0"/>
                </a:moveTo>
                <a:arcTo wR="2079" hR="2079" stAng="16200000" swAng="-5400000"/>
                <a:lnTo>
                  <a:pt x="0" y="19521"/>
                </a:lnTo>
                <a:arcTo wR="2079" hR="2079" stAng="10800000" swAng="-5400000"/>
                <a:lnTo>
                  <a:pt x="61140" y="21600"/>
                </a:lnTo>
                <a:arcTo wR="2079" hR="2079" stAng="5400000" swAng="-5400000"/>
                <a:lnTo>
                  <a:pt x="63219" y="2079"/>
                </a:lnTo>
                <a:arcTo wR="2079" hR="2079" stAng="0" swAng="-5400000"/>
                <a:close/>
              </a:path>
            </a:pathLst>
          </a:custGeom>
          <a:solidFill>
            <a:srgbClr val="17120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4"/>
          <p:cNvSpPr/>
          <p:nvPr/>
        </p:nvSpPr>
        <p:spPr>
          <a:xfrm>
            <a:off x="9239040" y="2468520"/>
            <a:ext cx="20210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STEP 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5"/>
          <p:cNvSpPr/>
          <p:nvPr/>
        </p:nvSpPr>
        <p:spPr>
          <a:xfrm>
            <a:off x="9239040" y="2732760"/>
            <a:ext cx="2021040" cy="248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>
                <a:solidFill>
                  <a:srgbClr val="F6F0E6"/>
                </a:solidFill>
                <a:effectLst/>
                <a:uFillTx/>
                <a:latin typeface="Public Sans"/>
                <a:ea typeface="Public Sans"/>
              </a:rPr>
              <a:t>Diagnosis &amp; Cure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7"/>
          <p:cNvSpPr/>
          <p:nvPr/>
        </p:nvSpPr>
        <p:spPr>
          <a:xfrm>
            <a:off x="3988800" y="4294440"/>
            <a:ext cx="4214520" cy="2743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8"/>
          <p:cNvSpPr/>
          <p:nvPr/>
        </p:nvSpPr>
        <p:spPr>
          <a:xfrm>
            <a:off x="4320360" y="4619520"/>
            <a:ext cx="35510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9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0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4" name="Picture 28"/>
          <p:cNvPicPr/>
          <p:nvPr/>
        </p:nvPicPr>
        <p:blipFill>
          <a:blip r:embed="rId7"/>
          <a:stretch/>
        </p:blipFill>
        <p:spPr>
          <a:xfrm>
            <a:off x="814320" y="3211920"/>
            <a:ext cx="10563480" cy="2918520"/>
          </a:xfrm>
          <a:prstGeom prst="rect">
            <a:avLst/>
          </a:prstGeom>
          <a:noFill/>
          <a:ln w="1260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16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17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18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05 · THE GEAR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TECHNOLOGY / TECH STACK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4"/>
          <p:cNvSpPr/>
          <p:nvPr/>
        </p:nvSpPr>
        <p:spPr>
          <a:xfrm>
            <a:off x="812880" y="2316240"/>
            <a:ext cx="10566360" cy="270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FFFD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5"/>
          <p:cNvSpPr/>
          <p:nvPr/>
        </p:nvSpPr>
        <p:spPr>
          <a:xfrm>
            <a:off x="11376000" y="2316240"/>
            <a:ext cx="360" cy="2701080"/>
          </a:xfrm>
          <a:custGeom>
            <a:avLst/>
            <a:gdLst>
              <a:gd name="textAreaLeft" fmla="*/ 0 w 360"/>
              <a:gd name="textAreaRight" fmla="*/ 720 w 360"/>
              <a:gd name="textAreaTop" fmla="*/ 0 h 2701080"/>
              <a:gd name="textAreaBottom" fmla="*/ 2701440 h 2701080"/>
              <a:gd name="GluePoint1X" fmla="*/ 0 w 21600"/>
              <a:gd name="GluePoint1Y" fmla="*/ 2 h 81043200"/>
              <a:gd name="GluePoint2X" fmla="*/ 1 w 21600"/>
              <a:gd name="GluePoint2Y" fmla="*/ 3 h 810432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21600" h="81043200">
                <a:moveTo>
                  <a:pt x="0" y="0"/>
                </a:moveTo>
                <a:lnTo>
                  <a:pt x="21600" y="81043200"/>
                </a:lnTo>
              </a:path>
            </a:pathLst>
          </a:custGeom>
          <a:noFill/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6"/>
          <p:cNvSpPr/>
          <p:nvPr/>
        </p:nvSpPr>
        <p:spPr>
          <a:xfrm>
            <a:off x="812880" y="5014080"/>
            <a:ext cx="10566360" cy="360"/>
          </a:xfrm>
          <a:custGeom>
            <a:avLst/>
            <a:gdLst>
              <a:gd name="textAreaLeft" fmla="*/ 0 w 10566360"/>
              <a:gd name="textAreaRight" fmla="*/ 10566720 w 10566360"/>
              <a:gd name="textAreaTop" fmla="*/ 0 h 360"/>
              <a:gd name="textAreaBottom" fmla="*/ 720 h 360"/>
              <a:gd name="GluePoint1X" fmla="*/ 0 w 317001600"/>
              <a:gd name="GluePoint1Y" fmla="*/ 2 h 21600"/>
              <a:gd name="GluePoint2X" fmla="*/ 1 w 317001600"/>
              <a:gd name="GluePoint2Y" fmla="*/ 3 h 2160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</a:cxnLst>
            <a:rect l="textAreaLeft" t="textAreaTop" r="textAreaRight" b="textAreaBottom"/>
            <a:pathLst>
              <a:path w="317001600" h="21600">
                <a:moveTo>
                  <a:pt x="0" y="0"/>
                </a:moveTo>
                <a:lnTo>
                  <a:pt x="317001600" y="21600"/>
                </a:lnTo>
              </a:path>
            </a:pathLst>
          </a:custGeom>
          <a:noFill/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-47520" rIns="93240" bIns="-4752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5" name="Table 0"/>
          <p:cNvGraphicFramePr/>
          <p:nvPr/>
        </p:nvGraphicFramePr>
        <p:xfrm>
          <a:off x="823320" y="2316240"/>
          <a:ext cx="10552320" cy="2687040"/>
        </p:xfrm>
        <a:graphic>
          <a:graphicData uri="http://schemas.openxmlformats.org/drawingml/2006/table">
            <a:tbl>
              <a:tblPr/>
              <a:tblGrid>
                <a:gridCol w="2192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1" u="none" strike="noStrike">
                          <a:solidFill>
                            <a:srgbClr val="F6F0E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Layer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161210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161210"/>
                      </a:solidFill>
                      <a:prstDash val="soli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1" u="none" strike="noStrike">
                          <a:solidFill>
                            <a:srgbClr val="F6F0E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Technology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161210"/>
                      </a:solidFill>
                      <a:prstDash val="solid"/>
                    </a:lnL>
                    <a:lnR w="25200">
                      <a:solidFill>
                        <a:srgbClr val="161210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161210"/>
                      </a:solidFill>
                      <a:prstDash val="solid"/>
                    </a:lnB>
                    <a:solidFill>
                      <a:srgbClr val="1712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1" u="none" strike="noStrike">
                          <a:solidFill>
                            <a:srgbClr val="F6F0E6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Why we chose it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161210"/>
                      </a:solidFill>
                      <a:prstDash val="solid"/>
                    </a:lnL>
                    <a:lnR w="25200">
                      <a:solidFill>
                        <a:srgbClr val="161210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161210"/>
                      </a:solidFill>
                      <a:prstDash val="solid"/>
                    </a:lnB>
                    <a:solidFill>
                      <a:srgbClr val="1712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Frontend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161210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React 18 + Vite + React Router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161210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Fast, responsive &amp; component-based UI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161210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Backend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Node.js + Express.js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Lightweight REST APIs &amp; scalable backend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Database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MongoDB + Mongoose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Flexible storage for plants, users &amp; gardens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AI / APIs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</a:rPr>
                        <a:t>Gemini,Plantid,GroqAi,OpenWeather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AI diagnosis, smart care &amp; live data , Accurate Response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76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Hosting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 dirty="0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Cloudflare Workers + </a:t>
                      </a:r>
                      <a:r>
                        <a:rPr lang="en-US" sz="1400" b="0" u="none" strike="noStrike" dirty="0" err="1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Vercel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Fast frontend &amp; serverless backend deployment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480"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  <a:ea typeface="Public Sans"/>
                        </a:rPr>
                        <a:t>Tools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>
                          <a:solidFill>
                            <a:srgbClr val="1E1917"/>
                          </a:solidFill>
                          <a:effectLst/>
                          <a:uFillTx/>
                          <a:latin typeface="Public Sans"/>
                        </a:rPr>
                        <a:t>Git/GitHub + Cloudinary + i18next + IOT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959"/>
                        </a:lnSpc>
                      </a:pPr>
                      <a:r>
                        <a:rPr lang="en-US" sz="1400" b="0" u="none" strike="noStrike" dirty="0">
                          <a:solidFill>
                            <a:srgbClr val="1E1917"/>
                          </a:solidFill>
                          <a:effectLst/>
                          <a:uFillTx/>
                          <a:latin typeface="Arial"/>
                        </a:rPr>
                        <a:t>Version control, media storage &amp; localization, Sensor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62280" marR="62280">
                    <a:lnL w="25200">
                      <a:solidFill>
                        <a:srgbClr val="CBCAC6"/>
                      </a:solidFill>
                      <a:prstDash val="solid"/>
                    </a:lnL>
                    <a:lnR w="25200">
                      <a:solidFill>
                        <a:srgbClr val="CBCAC6"/>
                      </a:solidFill>
                      <a:prstDash val="solid"/>
                    </a:lnR>
                    <a:lnT w="25200">
                      <a:solidFill>
                        <a:srgbClr val="CBCAC6"/>
                      </a:solidFill>
                      <a:prstDash val="solid"/>
                    </a:lnT>
                    <a:lnB w="25200">
                      <a:solidFill>
                        <a:srgbClr val="CBCAC6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6" name="Text 7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8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29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30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31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06 · INSIDE THE MINT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CURRENT PROGRESS / WORK DONE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816120" y="2319480"/>
            <a:ext cx="3371040" cy="3519360"/>
          </a:xfrm>
          <a:custGeom>
            <a:avLst/>
            <a:gdLst>
              <a:gd name="textAreaLeft" fmla="*/ 21240 w 3371040"/>
              <a:gd name="textAreaRight" fmla="*/ 3349800 w 337104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21600" h="22550">
                <a:moveTo>
                  <a:pt x="468" y="0"/>
                </a:moveTo>
                <a:arcTo wR="468" hR="468" stAng="16200000" swAng="-5400000"/>
                <a:lnTo>
                  <a:pt x="0" y="22082"/>
                </a:lnTo>
                <a:arcTo wR="468" hR="468" stAng="10800000" swAng="-5400000"/>
                <a:lnTo>
                  <a:pt x="21132" y="22550"/>
                </a:lnTo>
                <a:arcTo wR="468" hR="468" stAng="5400000" swAng="-5400000"/>
                <a:lnTo>
                  <a:pt x="21600" y="468"/>
                </a:lnTo>
                <a:arcTo wR="468" hR="468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44720" y="2522880"/>
            <a:ext cx="300060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COMPLETED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1129320" y="2743200"/>
            <a:ext cx="2918520" cy="323136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AI Plant Diagnosis</a:t>
            </a:r>
            <a:r>
              <a:rPr lang="en-IN" sz="1200" dirty="0"/>
              <a:t>: Disease detection and organic treatment recommendations.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Smart Irrigation</a:t>
            </a:r>
            <a:r>
              <a:rPr lang="en-IN" sz="1200" dirty="0"/>
              <a:t>: Weather-based watering and rain alerts.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Plant Tracking</a:t>
            </a:r>
            <a:r>
              <a:rPr lang="en-IN" sz="1200" dirty="0"/>
              <a:t>: Growth monitoring and care reminders.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IoT Integration: </a:t>
            </a:r>
            <a:r>
              <a:rPr lang="en-IN" sz="1200" dirty="0"/>
              <a:t>Real-time sensor monitoring on web and mobile apps.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Multilingual AI Assistant</a:t>
            </a:r>
            <a:r>
              <a:rPr lang="en-IN" sz="1200" dirty="0"/>
              <a:t>: English, Hindi, and Gujarati support.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IN" sz="1200" b="1" dirty="0"/>
              <a:t>Gamification &amp; Community</a:t>
            </a:r>
            <a:r>
              <a:rPr lang="en-IN" sz="1200" dirty="0"/>
              <a:t>: XP rewards, badges, grower discussions, and seed exchange.</a:t>
            </a:r>
          </a:p>
        </p:txBody>
      </p:sp>
      <p:sp>
        <p:nvSpPr>
          <p:cNvPr id="138" name="Shape 7"/>
          <p:cNvSpPr/>
          <p:nvPr/>
        </p:nvSpPr>
        <p:spPr>
          <a:xfrm>
            <a:off x="4396320" y="2319480"/>
            <a:ext cx="3371040" cy="3519360"/>
          </a:xfrm>
          <a:custGeom>
            <a:avLst/>
            <a:gdLst>
              <a:gd name="textAreaLeft" fmla="*/ 21240 w 3371040"/>
              <a:gd name="textAreaRight" fmla="*/ 3349800 w 337104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21600" h="22550">
                <a:moveTo>
                  <a:pt x="468" y="0"/>
                </a:moveTo>
                <a:arcTo wR="468" hR="468" stAng="16200000" swAng="-5400000"/>
                <a:lnTo>
                  <a:pt x="0" y="22082"/>
                </a:lnTo>
                <a:arcTo wR="468" hR="468" stAng="10800000" swAng="-5400000"/>
                <a:lnTo>
                  <a:pt x="21132" y="22550"/>
                </a:lnTo>
                <a:arcTo wR="468" hR="468" stAng="5400000" swAng="-5400000"/>
                <a:lnTo>
                  <a:pt x="21600" y="468"/>
                </a:lnTo>
                <a:arcTo wR="468" hR="468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4625280" y="2522880"/>
            <a:ext cx="300060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C8102E"/>
                </a:solidFill>
                <a:effectLst/>
                <a:uFillTx/>
                <a:latin typeface="Oswald"/>
                <a:ea typeface="Oswald"/>
              </a:rPr>
              <a:t>IN PROGRESS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4709880" y="2898720"/>
            <a:ext cx="2918520" cy="2823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AI Voice Assistant</a:t>
            </a:r>
            <a:r>
              <a:rPr lang="en-IN" sz="1400" dirty="0"/>
              <a:t>: Voice-based farming guidance.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AI Calling Agent</a:t>
            </a:r>
            <a:r>
              <a:rPr lang="en-IN" sz="1400" dirty="0"/>
              <a:t>: Automated care reminders and alerts.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en-IN" sz="1400" b="1" dirty="0"/>
              <a:t>Real-World IoT</a:t>
            </a:r>
            <a:r>
              <a:rPr lang="en-IN" sz="1400" dirty="0"/>
              <a:t>: Live physical sensor monitoring on web and mobile.</a:t>
            </a:r>
          </a:p>
        </p:txBody>
      </p:sp>
      <p:sp>
        <p:nvSpPr>
          <p:cNvPr id="141" name="Text 11"/>
          <p:cNvSpPr/>
          <p:nvPr/>
        </p:nvSpPr>
        <p:spPr>
          <a:xfrm>
            <a:off x="8176320" y="3685320"/>
            <a:ext cx="3000600" cy="523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2"/>
          <p:cNvSpPr/>
          <p:nvPr/>
        </p:nvSpPr>
        <p:spPr>
          <a:xfrm>
            <a:off x="7992720" y="4259520"/>
            <a:ext cx="33674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 anchorCtr="1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3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4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5" name="Picture 19"/>
          <p:cNvPicPr/>
          <p:nvPr/>
        </p:nvPicPr>
        <p:blipFill>
          <a:blip r:embed="rId6"/>
          <a:stretch/>
        </p:blipFill>
        <p:spPr>
          <a:xfrm>
            <a:off x="7976520" y="1072913"/>
            <a:ext cx="2572947" cy="4765927"/>
          </a:xfrm>
          <a:prstGeom prst="rect">
            <a:avLst/>
          </a:prstGeom>
          <a:noFill/>
          <a:ln w="1260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0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812880" y="33012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47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468000" y="30492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48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10128240" y="39384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49" name="Shape 0"/>
          <p:cNvSpPr/>
          <p:nvPr/>
        </p:nvSpPr>
        <p:spPr>
          <a:xfrm>
            <a:off x="812880" y="939600"/>
            <a:ext cx="10566360" cy="252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9800" rIns="90000" bIns="-198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"/>
          <p:cNvSpPr/>
          <p:nvPr/>
        </p:nvSpPr>
        <p:spPr>
          <a:xfrm>
            <a:off x="812880" y="114300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07 · THE GETAWAY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812880" y="140688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 dirty="0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FUTURE PLAN / NEXT STEPS</a:t>
            </a:r>
            <a:endParaRPr lang="en-US" sz="3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"/>
          <p:cNvSpPr/>
          <p:nvPr/>
        </p:nvSpPr>
        <p:spPr>
          <a:xfrm>
            <a:off x="812880" y="192492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 fontScale="92500" lnSpcReduction="10000"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4"/>
          <p:cNvSpPr/>
          <p:nvPr/>
        </p:nvSpPr>
        <p:spPr>
          <a:xfrm>
            <a:off x="816120" y="2319480"/>
            <a:ext cx="3380400" cy="3519360"/>
          </a:xfrm>
          <a:custGeom>
            <a:avLst/>
            <a:gdLst>
              <a:gd name="textAreaLeft" fmla="*/ 21240 w 3380400"/>
              <a:gd name="textAreaRight" fmla="*/ 3359160 w 338040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21600" h="22488">
                <a:moveTo>
                  <a:pt x="467" y="0"/>
                </a:moveTo>
                <a:arcTo wR="467" hR="467" stAng="16200000" swAng="-5400000"/>
                <a:lnTo>
                  <a:pt x="0" y="22021"/>
                </a:lnTo>
                <a:arcTo wR="467" hR="467" stAng="10800000" swAng="-5400000"/>
                <a:lnTo>
                  <a:pt x="21133" y="22488"/>
                </a:lnTo>
                <a:arcTo wR="467" hR="467" stAng="5400000" swAng="-5400000"/>
                <a:lnTo>
                  <a:pt x="21600" y="467"/>
                </a:lnTo>
                <a:arcTo wR="467" hR="467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044720" y="2522880"/>
            <a:ext cx="30099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PHASE 1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6"/>
          <p:cNvSpPr/>
          <p:nvPr/>
        </p:nvSpPr>
        <p:spPr>
          <a:xfrm>
            <a:off x="1044720" y="2837880"/>
            <a:ext cx="300996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DURING THE HACKATHON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7"/>
          <p:cNvSpPr/>
          <p:nvPr/>
        </p:nvSpPr>
        <p:spPr>
          <a:xfrm>
            <a:off x="1129320" y="3151080"/>
            <a:ext cx="2917800" cy="2573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6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</a:t>
            </a: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Complete: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Real ESP32 + MQTT IoT integration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Testing: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Disease detection, irrigation &amp; AI recommendations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Demo Goal: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End-to-end </a:t>
            </a: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Plant → Diagnose → Treat → Water → Track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8"/>
          <p:cNvSpPr/>
          <p:nvPr/>
        </p:nvSpPr>
        <p:spPr>
          <a:xfrm>
            <a:off x="4405680" y="2319480"/>
            <a:ext cx="3380400" cy="3519360"/>
          </a:xfrm>
          <a:custGeom>
            <a:avLst/>
            <a:gdLst>
              <a:gd name="textAreaLeft" fmla="*/ 21240 w 3380400"/>
              <a:gd name="textAreaRight" fmla="*/ 3359160 w 338040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21600" h="22488">
                <a:moveTo>
                  <a:pt x="467" y="0"/>
                </a:moveTo>
                <a:arcTo wR="467" hR="467" stAng="16200000" swAng="-5400000"/>
                <a:lnTo>
                  <a:pt x="0" y="22021"/>
                </a:lnTo>
                <a:arcTo wR="467" hR="467" stAng="10800000" swAng="-5400000"/>
                <a:lnTo>
                  <a:pt x="21133" y="22488"/>
                </a:lnTo>
                <a:arcTo wR="467" hR="467" stAng="5400000" swAng="-5400000"/>
                <a:lnTo>
                  <a:pt x="21600" y="467"/>
                </a:lnTo>
                <a:arcTo wR="467" hR="467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9"/>
          <p:cNvSpPr/>
          <p:nvPr/>
        </p:nvSpPr>
        <p:spPr>
          <a:xfrm>
            <a:off x="4634640" y="2522880"/>
            <a:ext cx="30103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PHASE 2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0"/>
          <p:cNvSpPr/>
          <p:nvPr/>
        </p:nvSpPr>
        <p:spPr>
          <a:xfrm>
            <a:off x="4634640" y="2837880"/>
            <a:ext cx="301032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RIGHT AFTER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1"/>
          <p:cNvSpPr/>
          <p:nvPr/>
        </p:nvSpPr>
        <p:spPr>
          <a:xfrm>
            <a:off x="4719240" y="3161520"/>
            <a:ext cx="2917800" cy="2406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Improve: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AI accuracy, IoT reliability &amp; user experience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Add: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Advanced plant-health analytics &amp; automated irrigation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Pilot: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Test with real urban gardeners and collect feedback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2"/>
          <p:cNvSpPr/>
          <p:nvPr/>
        </p:nvSpPr>
        <p:spPr>
          <a:xfrm>
            <a:off x="7995600" y="2319480"/>
            <a:ext cx="3380400" cy="3519360"/>
          </a:xfrm>
          <a:custGeom>
            <a:avLst/>
            <a:gdLst>
              <a:gd name="textAreaLeft" fmla="*/ 21240 w 3380400"/>
              <a:gd name="textAreaRight" fmla="*/ 3359160 w 3380400"/>
              <a:gd name="textAreaTop" fmla="*/ 21240 h 3519360"/>
              <a:gd name="textAreaBottom" fmla="*/ 3498120 h 3519360"/>
            </a:gdLst>
            <a:ahLst/>
            <a:cxnLst/>
            <a:rect l="textAreaLeft" t="textAreaTop" r="textAreaRight" b="textAreaBottom"/>
            <a:pathLst>
              <a:path w="21600" h="22488">
                <a:moveTo>
                  <a:pt x="467" y="0"/>
                </a:moveTo>
                <a:arcTo wR="467" hR="467" stAng="16200000" swAng="-5400000"/>
                <a:lnTo>
                  <a:pt x="0" y="22021"/>
                </a:lnTo>
                <a:arcTo wR="467" hR="467" stAng="10800000" swAng="-5400000"/>
                <a:lnTo>
                  <a:pt x="21133" y="22488"/>
                </a:lnTo>
                <a:arcTo wR="467" hR="467" stAng="5400000" swAng="-5400000"/>
                <a:lnTo>
                  <a:pt x="21600" y="467"/>
                </a:lnTo>
                <a:arcTo wR="467" hR="467" stAng="0" swAng="-5400000"/>
                <a:close/>
              </a:path>
            </a:pathLst>
          </a:custGeom>
          <a:solidFill>
            <a:srgbClr val="FFFDF8"/>
          </a:solidFill>
          <a:ln w="6480">
            <a:solidFill>
              <a:srgbClr val="E2D8C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3"/>
          <p:cNvSpPr/>
          <p:nvPr/>
        </p:nvSpPr>
        <p:spPr>
          <a:xfrm>
            <a:off x="8224560" y="2522880"/>
            <a:ext cx="30103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PHASE 3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4"/>
          <p:cNvSpPr/>
          <p:nvPr/>
        </p:nvSpPr>
        <p:spPr>
          <a:xfrm>
            <a:off x="8224560" y="2837880"/>
            <a:ext cx="3010320" cy="299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2160"/>
              </a:lnSpc>
            </a:pPr>
            <a:r>
              <a:rPr lang="en-US" sz="1800" b="1" u="none" strike="noStrike">
                <a:solidFill>
                  <a:srgbClr val="1E1917"/>
                </a:solidFill>
                <a:effectLst/>
                <a:uFillTx/>
                <a:latin typeface="Oswald"/>
                <a:ea typeface="Oswald"/>
              </a:rPr>
              <a:t>LONG-TERM VISION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5"/>
          <p:cNvSpPr/>
          <p:nvPr/>
        </p:nvSpPr>
        <p:spPr>
          <a:xfrm>
            <a:off x="8309160" y="3171960"/>
            <a:ext cx="2917800" cy="25524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Scale: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Connect multiple gardens with IoT-based monitoring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Impact: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Reduce water waste &amp; improve urban crop health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2900" indent="-342900" algn="just">
              <a:lnSpc>
                <a:spcPct val="100000"/>
              </a:lnSpc>
              <a:buClr>
                <a:srgbClr val="000000"/>
              </a:buClr>
              <a:buFont typeface="+mj-lt"/>
              <a:buAutoNum type="arabicPeriod"/>
            </a:pP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Vision:</a:t>
            </a:r>
            <a:r>
              <a:rPr lang="en-US" sz="1400" b="0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 Build a scalable </a:t>
            </a:r>
            <a:r>
              <a:rPr lang="en-US" sz="1400" b="1" u="none" strike="noStrike" dirty="0">
                <a:solidFill>
                  <a:srgbClr val="1E1917"/>
                </a:solidFill>
                <a:effectLst/>
                <a:uFillTx/>
                <a:latin typeface="Public Sans"/>
                <a:ea typeface="Public Sans"/>
              </a:rPr>
              <a:t>AI + IoT smart urban farming ecosystem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6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5A504A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7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C8102E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2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0"/>
          <p:cNvSpPr/>
          <p:nvPr/>
        </p:nvSpPr>
        <p:spPr>
          <a:xfrm>
            <a:off x="0" y="0"/>
            <a:ext cx="152280" cy="68580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C8102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"/>
          <p:cNvSpPr/>
          <p:nvPr/>
        </p:nvSpPr>
        <p:spPr>
          <a:xfrm>
            <a:off x="812880" y="304920"/>
            <a:ext cx="10566360" cy="609480"/>
          </a:xfrm>
          <a:custGeom>
            <a:avLst/>
            <a:gdLst>
              <a:gd name="textAreaLeft" fmla="*/ 22320 w 10566360"/>
              <a:gd name="textAreaRight" fmla="*/ 10544040 w 10566360"/>
              <a:gd name="textAreaTop" fmla="*/ 22320 h 609480"/>
              <a:gd name="textAreaBottom" fmla="*/ 587160 h 609480"/>
            </a:gdLst>
            <a:ahLst/>
            <a:cxnLst/>
            <a:rect l="textAreaLeft" t="textAreaTop" r="textAreaRight" b="textAreaBottom"/>
            <a:pathLst>
              <a:path w="374264" h="21600">
                <a:moveTo>
                  <a:pt x="2700" y="0"/>
                </a:moveTo>
                <a:arcTo wR="2700" hR="2700" stAng="16200000" swAng="-5400000"/>
                <a:lnTo>
                  <a:pt x="0" y="18900"/>
                </a:lnTo>
                <a:arcTo wR="2700" hR="2700" stAng="10800000" swAng="-5400000"/>
                <a:lnTo>
                  <a:pt x="371564" y="21600"/>
                </a:lnTo>
                <a:arcTo wR="2700" hR="2700" stAng="5400000" swAng="-5400000"/>
                <a:lnTo>
                  <a:pt x="374264" y="2700"/>
                </a:lnTo>
                <a:arcTo wR="2700" hR="2700" stAng="0" swAng="-5400000"/>
                <a:close/>
              </a:path>
            </a:pathLst>
          </a:custGeom>
          <a:solidFill>
            <a:srgbClr val="F6F0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9" name="Image 0" descr="Atmiya University logo"/>
          <p:cNvPicPr/>
          <p:nvPr/>
        </p:nvPicPr>
        <p:blipFill>
          <a:blip r:embed="rId3"/>
          <a:srcRect t="-44" b="-44"/>
          <a:stretch/>
        </p:blipFill>
        <p:spPr>
          <a:xfrm>
            <a:off x="1015920" y="406440"/>
            <a:ext cx="1428840" cy="4064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70" name="Image 1" descr="Centre for Research, Innovation and Translation logo"/>
          <p:cNvPicPr/>
          <p:nvPr/>
        </p:nvPicPr>
        <p:blipFill>
          <a:blip r:embed="rId4"/>
          <a:srcRect l="-419" r="-419"/>
          <a:stretch/>
        </p:blipFill>
        <p:spPr>
          <a:xfrm>
            <a:off x="9264600" y="380880"/>
            <a:ext cx="457200" cy="4572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171" name="Image 2" descr="ADSC logo"/>
          <p:cNvPicPr/>
          <p:nvPr/>
        </p:nvPicPr>
        <p:blipFill>
          <a:blip r:embed="rId5"/>
          <a:srcRect t="-92" b="-92"/>
          <a:stretch/>
        </p:blipFill>
        <p:spPr>
          <a:xfrm>
            <a:off x="9925200" y="469800"/>
            <a:ext cx="1251000" cy="27936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72" name="Text 2"/>
          <p:cNvSpPr/>
          <p:nvPr/>
        </p:nvSpPr>
        <p:spPr>
          <a:xfrm>
            <a:off x="812880" y="109224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201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08 · THE VAULT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12880" y="1356120"/>
            <a:ext cx="10883520" cy="492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ts val="3679"/>
              </a:lnSpc>
              <a:buNone/>
            </a:pPr>
            <a:r>
              <a:rPr lang="en-US" sz="3200" b="1" u="none" strike="noStrike">
                <a:solidFill>
                  <a:srgbClr val="F6F0E6"/>
                </a:solidFill>
                <a:effectLst/>
                <a:uFillTx/>
                <a:latin typeface="Oswald"/>
                <a:ea typeface="Oswald"/>
              </a:rPr>
              <a:t>GITHUB REPOSITORY LINK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4"/>
          <p:cNvSpPr/>
          <p:nvPr/>
        </p:nvSpPr>
        <p:spPr>
          <a:xfrm>
            <a:off x="812880" y="1874160"/>
            <a:ext cx="1088352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i="1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Hint (delete): paste the full link as clickable text and check it opens without signing in.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"/>
          <p:cNvSpPr/>
          <p:nvPr/>
        </p:nvSpPr>
        <p:spPr>
          <a:xfrm>
            <a:off x="819000" y="2271960"/>
            <a:ext cx="10553760" cy="856800"/>
          </a:xfrm>
          <a:custGeom>
            <a:avLst/>
            <a:gdLst>
              <a:gd name="textAreaLeft" fmla="*/ 20160 w 10553760"/>
              <a:gd name="textAreaRight" fmla="*/ 10533600 w 10553760"/>
              <a:gd name="textAreaTop" fmla="*/ 20160 h 856800"/>
              <a:gd name="textAreaBottom" fmla="*/ 836640 h 856800"/>
            </a:gdLst>
            <a:ahLst/>
            <a:cxnLst/>
            <a:rect l="textAreaLeft" t="textAreaTop" r="textAreaRight" b="textAreaBottom"/>
            <a:pathLst>
              <a:path w="265959" h="21600">
                <a:moveTo>
                  <a:pt x="1761" y="0"/>
                </a:moveTo>
                <a:arcTo wR="1761" hR="1761" stAng="16200000" swAng="-5400000"/>
                <a:lnTo>
                  <a:pt x="0" y="19839"/>
                </a:lnTo>
                <a:arcTo wR="1761" hR="1761" stAng="10800000" swAng="-5400000"/>
                <a:lnTo>
                  <a:pt x="264198" y="21600"/>
                </a:lnTo>
                <a:arcTo wR="1761" hR="1761" stAng="5400000" swAng="-5400000"/>
                <a:lnTo>
                  <a:pt x="265959" y="1761"/>
                </a:lnTo>
                <a:arcTo wR="1761" hR="1761" stAng="0" swAng="-5400000"/>
                <a:close/>
              </a:path>
            </a:pathLst>
          </a:custGeom>
          <a:noFill/>
          <a:ln w="12600">
            <a:solidFill>
              <a:srgbClr val="C8102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120" tIns="51120" rIns="96120" bIns="5112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3" descr="Link"/>
          <p:cNvPicPr/>
          <p:nvPr/>
        </p:nvPicPr>
        <p:blipFill>
          <a:blip r:embed="rId6"/>
          <a:stretch/>
        </p:blipFill>
        <p:spPr>
          <a:xfrm>
            <a:off x="1077480" y="2522520"/>
            <a:ext cx="355680" cy="3556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177" name="Text 6"/>
          <p:cNvSpPr/>
          <p:nvPr/>
        </p:nvSpPr>
        <p:spPr>
          <a:xfrm>
            <a:off x="1610640" y="2504520"/>
            <a:ext cx="9789120" cy="41652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3081"/>
              </a:lnSpc>
            </a:pPr>
            <a:r>
              <a:rPr lang="en-US" sz="2200" b="1" u="none" strike="noStrike">
                <a:solidFill>
                  <a:srgbClr val="F6F0E6"/>
                </a:solidFill>
                <a:effectLst/>
                <a:uFillTx/>
                <a:latin typeface="Oswald"/>
                <a:ea typeface="Public Sans"/>
                <a:hlinkClick r:id="rId7"/>
              </a:rPr>
              <a:t>https://github.com/mr-baraiya/UrbanFarm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7"/>
          <p:cNvSpPr/>
          <p:nvPr/>
        </p:nvSpPr>
        <p:spPr>
          <a:xfrm>
            <a:off x="816120" y="3315960"/>
            <a:ext cx="2521080" cy="2522880"/>
          </a:xfrm>
          <a:custGeom>
            <a:avLst/>
            <a:gdLst>
              <a:gd name="textAreaLeft" fmla="*/ 21240 w 2521080"/>
              <a:gd name="textAreaRight" fmla="*/ 2499840 w 2521080"/>
              <a:gd name="textAreaTop" fmla="*/ 21240 h 2522880"/>
              <a:gd name="textAreaBottom" fmla="*/ 2501640 h 2522880"/>
            </a:gdLst>
            <a:ahLst/>
            <a:cxnLst/>
            <a:rect l="textAreaLeft" t="textAreaTop" r="textAreaRight" b="textAreaBottom"/>
            <a:pathLst>
              <a:path w="21600" h="21615">
                <a:moveTo>
                  <a:pt x="626" y="0"/>
                </a:moveTo>
                <a:arcTo wR="626" hR="626" stAng="16200000" swAng="-5400000"/>
                <a:lnTo>
                  <a:pt x="0" y="20989"/>
                </a:lnTo>
                <a:arcTo wR="626" hR="626" stAng="10800000" swAng="-5400000"/>
                <a:lnTo>
                  <a:pt x="20974" y="21615"/>
                </a:lnTo>
                <a:arcTo wR="626" hR="626" stAng="5400000" swAng="-5400000"/>
                <a:lnTo>
                  <a:pt x="21600" y="626"/>
                </a:lnTo>
                <a:arcTo wR="626" hR="626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993960" y="3468600"/>
            <a:ext cx="22298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PUBLIC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9"/>
          <p:cNvSpPr/>
          <p:nvPr/>
        </p:nvSpPr>
        <p:spPr>
          <a:xfrm>
            <a:off x="993960" y="3732840"/>
            <a:ext cx="2229840" cy="47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Repository visibility is set to public.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10"/>
          <p:cNvSpPr/>
          <p:nvPr/>
        </p:nvSpPr>
        <p:spPr>
          <a:xfrm>
            <a:off x="3495600" y="3315960"/>
            <a:ext cx="2521080" cy="2522880"/>
          </a:xfrm>
          <a:custGeom>
            <a:avLst/>
            <a:gdLst>
              <a:gd name="textAreaLeft" fmla="*/ 21240 w 2521080"/>
              <a:gd name="textAreaRight" fmla="*/ 2499840 w 2521080"/>
              <a:gd name="textAreaTop" fmla="*/ 21240 h 2522880"/>
              <a:gd name="textAreaBottom" fmla="*/ 2501640 h 2522880"/>
            </a:gdLst>
            <a:ahLst/>
            <a:cxnLst/>
            <a:rect l="textAreaLeft" t="textAreaTop" r="textAreaRight" b="textAreaBottom"/>
            <a:pathLst>
              <a:path w="21600" h="21615">
                <a:moveTo>
                  <a:pt x="626" y="0"/>
                </a:moveTo>
                <a:arcTo wR="626" hR="626" stAng="16200000" swAng="-5400000"/>
                <a:lnTo>
                  <a:pt x="0" y="20989"/>
                </a:lnTo>
                <a:arcTo wR="626" hR="626" stAng="10800000" swAng="-5400000"/>
                <a:lnTo>
                  <a:pt x="20974" y="21615"/>
                </a:lnTo>
                <a:arcTo wR="626" hR="626" stAng="5400000" swAng="-5400000"/>
                <a:lnTo>
                  <a:pt x="21600" y="626"/>
                </a:lnTo>
                <a:arcTo wR="626" hR="626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3673800" y="3468600"/>
            <a:ext cx="22298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README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2"/>
          <p:cNvSpPr/>
          <p:nvPr/>
        </p:nvSpPr>
        <p:spPr>
          <a:xfrm>
            <a:off x="3673800" y="3732840"/>
            <a:ext cx="2229840" cy="694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Covers setup steps, features and team members.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3"/>
          <p:cNvSpPr/>
          <p:nvPr/>
        </p:nvSpPr>
        <p:spPr>
          <a:xfrm>
            <a:off x="6175440" y="3315960"/>
            <a:ext cx="2521080" cy="2522880"/>
          </a:xfrm>
          <a:custGeom>
            <a:avLst/>
            <a:gdLst>
              <a:gd name="textAreaLeft" fmla="*/ 21240 w 2521080"/>
              <a:gd name="textAreaRight" fmla="*/ 2499840 w 2521080"/>
              <a:gd name="textAreaTop" fmla="*/ 21240 h 2522880"/>
              <a:gd name="textAreaBottom" fmla="*/ 2501640 h 2522880"/>
            </a:gdLst>
            <a:ahLst/>
            <a:cxnLst/>
            <a:rect l="textAreaLeft" t="textAreaTop" r="textAreaRight" b="textAreaBottom"/>
            <a:pathLst>
              <a:path w="21600" h="21615">
                <a:moveTo>
                  <a:pt x="626" y="0"/>
                </a:moveTo>
                <a:arcTo wR="626" hR="626" stAng="16200000" swAng="-5400000"/>
                <a:lnTo>
                  <a:pt x="0" y="20989"/>
                </a:lnTo>
                <a:arcTo wR="626" hR="626" stAng="10800000" swAng="-5400000"/>
                <a:lnTo>
                  <a:pt x="20974" y="21615"/>
                </a:lnTo>
                <a:arcTo wR="626" hR="626" stAng="5400000" swAng="-5400000"/>
                <a:lnTo>
                  <a:pt x="21600" y="626"/>
                </a:lnTo>
                <a:arcTo wR="626" hR="626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4"/>
          <p:cNvSpPr/>
          <p:nvPr/>
        </p:nvSpPr>
        <p:spPr>
          <a:xfrm>
            <a:off x="6353640" y="3468600"/>
            <a:ext cx="22298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COMMITS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5"/>
          <p:cNvSpPr/>
          <p:nvPr/>
        </p:nvSpPr>
        <p:spPr>
          <a:xfrm>
            <a:off x="6353640" y="3732840"/>
            <a:ext cx="2229840" cy="4712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0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Regular commits from every team member.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6"/>
          <p:cNvSpPr/>
          <p:nvPr/>
        </p:nvSpPr>
        <p:spPr>
          <a:xfrm>
            <a:off x="8854920" y="3315960"/>
            <a:ext cx="2521080" cy="2522880"/>
          </a:xfrm>
          <a:custGeom>
            <a:avLst/>
            <a:gdLst>
              <a:gd name="textAreaLeft" fmla="*/ 21240 w 2521080"/>
              <a:gd name="textAreaRight" fmla="*/ 2499840 w 2521080"/>
              <a:gd name="textAreaTop" fmla="*/ 21240 h 2522880"/>
              <a:gd name="textAreaBottom" fmla="*/ 2501640 h 2522880"/>
            </a:gdLst>
            <a:ahLst/>
            <a:cxnLst/>
            <a:rect l="textAreaLeft" t="textAreaTop" r="textAreaRight" b="textAreaBottom"/>
            <a:pathLst>
              <a:path w="21600" h="21615">
                <a:moveTo>
                  <a:pt x="626" y="0"/>
                </a:moveTo>
                <a:arcTo wR="626" hR="626" stAng="16200000" swAng="-5400000"/>
                <a:lnTo>
                  <a:pt x="0" y="20989"/>
                </a:lnTo>
                <a:arcTo wR="626" hR="626" stAng="10800000" swAng="-5400000"/>
                <a:lnTo>
                  <a:pt x="20974" y="21615"/>
                </a:lnTo>
                <a:arcTo wR="626" hR="626" stAng="5400000" swAng="-5400000"/>
                <a:lnTo>
                  <a:pt x="21600" y="626"/>
                </a:lnTo>
                <a:arcTo wR="626" hR="626" stAng="0" swAng="-5400000"/>
                <a:close/>
              </a:path>
            </a:pathLst>
          </a:custGeom>
          <a:noFill/>
          <a:ln w="6480">
            <a:solidFill>
              <a:srgbClr val="4A3F38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3240" tIns="48240" rIns="93240" bIns="48240" anchor="t">
            <a:sp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7"/>
          <p:cNvSpPr/>
          <p:nvPr/>
        </p:nvSpPr>
        <p:spPr>
          <a:xfrm>
            <a:off x="9033120" y="3468600"/>
            <a:ext cx="22298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DEMO (OPTIONAL)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8"/>
          <p:cNvSpPr/>
          <p:nvPr/>
        </p:nvSpPr>
        <p:spPr>
          <a:xfrm>
            <a:off x="9033120" y="3711960"/>
            <a:ext cx="2141280" cy="717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755"/>
              </a:lnSpc>
            </a:pPr>
            <a:r>
              <a:rPr lang="en-US" sz="1300" b="1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  <a:hlinkClick r:id="rId8"/>
              </a:rPr>
              <a:t>https://urbanfarm.baraiyavishalbhai32.workers.dev/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9"/>
          <p:cNvSpPr/>
          <p:nvPr/>
        </p:nvSpPr>
        <p:spPr>
          <a:xfrm>
            <a:off x="812880" y="6238440"/>
            <a:ext cx="588636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>
              <a:lnSpc>
                <a:spcPts val="1681"/>
              </a:lnSpc>
            </a:pPr>
            <a:r>
              <a:rPr lang="en-US" sz="1200" b="0" u="none" strike="noStrike">
                <a:solidFill>
                  <a:srgbClr val="D9CFC2"/>
                </a:solidFill>
                <a:effectLst/>
                <a:uFillTx/>
                <a:latin typeface="Public Sans"/>
                <a:ea typeface="Public Sans"/>
              </a:rPr>
              <a:t>Code Carnival 3.0 · ADSC, Atmiya University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20"/>
          <p:cNvSpPr/>
          <p:nvPr/>
        </p:nvSpPr>
        <p:spPr>
          <a:xfrm>
            <a:off x="8109000" y="6238440"/>
            <a:ext cx="3270240" cy="238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rmAutofit/>
          </a:bodyPr>
          <a:lstStyle/>
          <a:p>
            <a:pPr algn="r">
              <a:lnSpc>
                <a:spcPts val="1681"/>
              </a:lnSpc>
            </a:pPr>
            <a:r>
              <a:rPr lang="en-US" sz="1200" b="1" u="none" strike="noStrike" spc="99">
                <a:solidFill>
                  <a:srgbClr val="EF4350"/>
                </a:solidFill>
                <a:effectLst/>
                <a:uFillTx/>
                <a:latin typeface="Public Sans"/>
                <a:ea typeface="Public Sans"/>
              </a:rPr>
              <a:t>Team Dashanan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860</Words>
  <Application>Microsoft Office PowerPoint</Application>
  <PresentationFormat>Widescreen</PresentationFormat>
  <Paragraphs>145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Oswald</vt:lpstr>
      <vt:lpstr>Public Sans</vt:lpstr>
      <vt:lpstr>Times New Roman</vt:lpstr>
      <vt:lpstr>Office</vt:lpstr>
      <vt:lpstr>CODE CARNIVAL 3.0</vt:lpstr>
      <vt:lpstr>PROBLEM STATEMENT &amp; UNDERSTANDING</vt:lpstr>
      <vt:lpstr>PROPOSED SOLUTION</vt:lpstr>
      <vt:lpstr>KEY FEATURES / FUNCTIONALITY</vt:lpstr>
      <vt:lpstr>HOW THE SOLUTION WILL WORK</vt:lpstr>
      <vt:lpstr>TECHNOLOGY / TECH STACK</vt:lpstr>
      <vt:lpstr>CURRENT PROGRESS / WORK DONE</vt:lpstr>
      <vt:lpstr>FUTURE PLAN / NEXT STEPS</vt:lpstr>
      <vt:lpstr>GITHUB REPOSITORY LINK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Vishal Baraiya</dc:creator>
  <cp:lastModifiedBy>Vishal Baraiya</cp:lastModifiedBy>
  <cp:revision>3</cp:revision>
  <dcterms:modified xsi:type="dcterms:W3CDTF">2026-10-10T10:14:23Z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2026-10-08T15:43:46Z</dcterms:created>
  <dc:creator/>
  <dc:description/>
  <dc:language>en-US</dc:language>
  <cp:lastModifiedBy/>
  <dcterms:modified xsi:type="dcterms:W3CDTF">2026-10-08T18:54:19Z</dcterms:modified>
  <cp:revision>315</cp:revision>
  <dc:subject/>
  <dc:title>Code Carnival 3.0 Idea Submission Template</dc:title>
</cp:coreProperties>
</file>